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5"/>
        <p:guide pos="383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Relationship Id="rId7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Relationship Id="rId5" Type="http://schemas.openxmlformats.org/officeDocument/2006/relationships/image" Target="../media/image1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f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731520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400" b="1" i="0">
                <a:solidFill>
                  <a:srgbClr val="84b59f"/>
                </a:solidFill>
                <a:latin typeface="Calibri"/>
              </a:rPr>
              <a:t>설계프로젝트2 </a:t>
            </a:r>
            <a:endParaRPr sz="1400" b="1" i="0">
              <a:solidFill>
                <a:srgbClr val="84b59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6949440" cy="1343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10000"/>
              </a:lnSpc>
              <a:defRPr/>
            </a:pPr>
            <a:r>
              <a:rPr sz="4000" b="1" i="0">
                <a:solidFill>
                  <a:srgbClr val="ffffff"/>
                </a:solidFill>
                <a:latin typeface="Cambria"/>
              </a:rPr>
              <a:t>AI 기반 정리 가이드</a:t>
            </a:r>
            <a:endParaRPr sz="4000" b="1" i="0">
              <a:solidFill>
                <a:srgbClr val="ffffff"/>
              </a:solidFill>
              <a:latin typeface="Cambria"/>
            </a:endParaRPr>
          </a:p>
          <a:p>
            <a:pPr lvl="0" algn="l">
              <a:lnSpc>
                <a:spcPct val="110000"/>
              </a:lnSpc>
              <a:defRPr/>
            </a:pPr>
            <a:r>
              <a:rPr lang="ko-KR" altLang="en-US" sz="4000" b="1" i="0">
                <a:solidFill>
                  <a:srgbClr val="ffffff"/>
                </a:solidFill>
                <a:latin typeface="Cambria"/>
              </a:rPr>
              <a:t>어시스턴트 웹</a:t>
            </a:r>
            <a:endParaRPr lang="ko-KR" altLang="en-US" sz="4000" b="1" i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3977639"/>
            <a:ext cx="6949440" cy="651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35000"/>
              </a:lnSpc>
              <a:defRPr/>
            </a:pPr>
            <a:r>
              <a:rPr sz="1600" b="0" i="0">
                <a:solidFill>
                  <a:srgbClr val="dceee8"/>
                </a:solidFill>
                <a:latin typeface="Calibri"/>
              </a:rPr>
              <a:t>카메라로 찍은 방 사진에서 정리 대상을 탐지하고,</a:t>
            </a:r>
            <a:endParaRPr sz="1600" b="0" i="0">
              <a:solidFill>
                <a:srgbClr val="dceee8"/>
              </a:solidFill>
              <a:latin typeface="Calibri"/>
            </a:endParaRPr>
          </a:p>
          <a:p>
            <a:pPr lvl="0" algn="l">
              <a:lnSpc>
                <a:spcPct val="135000"/>
              </a:lnSpc>
              <a:defRPr/>
            </a:pPr>
            <a:r>
              <a:rPr sz="1600" b="0" i="0">
                <a:solidFill>
                  <a:srgbClr val="dceee8"/>
                </a:solidFill>
                <a:latin typeface="Calibri"/>
              </a:rPr>
              <a:t>목적지와 순서를 제안하는 개인화 </a:t>
            </a:r>
            <a:r>
              <a:rPr lang="ko-KR" altLang="en-US" sz="1600" b="0" i="0">
                <a:solidFill>
                  <a:srgbClr val="dceee8"/>
                </a:solidFill>
                <a:latin typeface="Calibri"/>
              </a:rPr>
              <a:t>보조 도구</a:t>
            </a:r>
            <a:endParaRPr lang="ko-KR" altLang="en-US" sz="1600" b="0" i="0">
              <a:solidFill>
                <a:srgbClr val="dceee8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5486400" cy="2514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lang="en-US" altLang="ko-KR" sz="1400" b="0" i="0">
                <a:solidFill>
                  <a:srgbClr val="ffffff"/>
                </a:solidFill>
                <a:latin typeface="Calibri"/>
              </a:rPr>
              <a:t>2022112595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· 장규영</a:t>
            </a:r>
            <a:endParaRPr sz="1400" b="0" i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" name="Picture 5" descr="camerahero_9.65_2.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233172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D5A50"/>
                </a:solidFill>
                <a:latin typeface="Calibri"/>
              </a:rPr>
              <a:t>PROBLEM ·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508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2800" b="1" i="0">
                <a:solidFill>
                  <a:srgbClr val="1f2d2a"/>
                </a:solidFill>
                <a:latin typeface="Cambria"/>
              </a:rPr>
              <a:t>정리의 진짜 문제는 결정 피로와 시작 장벽</a:t>
            </a:r>
            <a:endParaRPr sz="2800" b="1" i="0">
              <a:solidFill>
                <a:srgbClr val="1f2d2a"/>
              </a:solidFill>
              <a:latin typeface="Cambr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76072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30000"/>
              </a:lnSpc>
              <a:defRPr/>
            </a:pPr>
            <a:r>
              <a:rPr sz="1500" b="0" i="0">
                <a:solidFill>
                  <a:srgbClr val="1f2d2a"/>
                </a:solidFill>
                <a:latin typeface="Calibri"/>
              </a:rPr>
              <a:t>1인가구 증가와 바쁜 현대인 → 정리에 쓸 시간·에너지 부족</a:t>
            </a:r>
            <a:r>
              <a:rPr lang="en-US" altLang="ko-KR" sz="1500" b="0" i="0">
                <a:solidFill>
                  <a:srgbClr val="1f2d2a"/>
                </a:solidFill>
                <a:latin typeface="Calibri"/>
              </a:rPr>
              <a:t>,</a:t>
            </a:r>
            <a:r>
              <a:rPr lang="ko-KR" altLang="en-US" sz="1500" b="0" i="0">
                <a:solidFill>
                  <a:srgbClr val="1f2d2a"/>
                </a:solidFill>
                <a:latin typeface="Calibri"/>
              </a:rPr>
              <a:t>습관</a:t>
            </a:r>
            <a:r>
              <a:rPr lang="en-US" altLang="ko-KR" sz="1500" b="0" i="0">
                <a:solidFill>
                  <a:srgbClr val="1f2d2a"/>
                </a:solidFill>
                <a:latin typeface="Calibri"/>
              </a:rPr>
              <a:t>X</a:t>
            </a:r>
            <a:endParaRPr lang="en-US" altLang="ko-KR"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endParaRPr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r>
              <a:rPr sz="1500" b="0" i="0">
                <a:solidFill>
                  <a:srgbClr val="1f2d2a"/>
                </a:solidFill>
                <a:latin typeface="Calibri"/>
              </a:rPr>
              <a:t>물건이 많을수록 “어디에 둘지” 판단이 반복되는 결정 피로 발생</a:t>
            </a:r>
            <a:r>
              <a:rPr lang="en-US" altLang="ko-KR" sz="1500" b="0" i="0">
                <a:solidFill>
                  <a:srgbClr val="1f2d2a"/>
                </a:solidFill>
                <a:latin typeface="Calibri"/>
              </a:rPr>
              <a:t>,</a:t>
            </a:r>
            <a:r>
              <a:rPr lang="ko-KR" altLang="en-US" sz="1500" b="0" i="0">
                <a:solidFill>
                  <a:srgbClr val="1f2d2a"/>
                </a:solidFill>
                <a:latin typeface="Calibri"/>
              </a:rPr>
              <a:t>비효율적인 정리과정</a:t>
            </a:r>
            <a:endParaRPr lang="ko-KR" altLang="en-US"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endParaRPr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r>
              <a:rPr sz="1500" b="0" i="0">
                <a:solidFill>
                  <a:srgbClr val="1f2d2a"/>
                </a:solidFill>
                <a:latin typeface="Calibri"/>
              </a:rPr>
              <a:t>“어디서부터 시작할지 모른다”는 심리적 진입장벽이 실행을 막음</a:t>
            </a:r>
            <a:endParaRPr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endParaRPr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r>
              <a:rPr lang="en-US" altLang="ko-KR" sz="1500" b="0" i="0">
                <a:solidFill>
                  <a:srgbClr val="1f2d2a"/>
                </a:solidFill>
                <a:latin typeface="Calibri"/>
              </a:rPr>
              <a:t>-&gt;</a:t>
            </a:r>
            <a:endParaRPr lang="en-US" altLang="ko-KR" sz="15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r>
              <a:rPr lang="ko-KR" altLang="en-US" sz="1500" b="0" i="0">
                <a:solidFill>
                  <a:srgbClr val="1f2d2a"/>
                </a:solidFill>
                <a:latin typeface="Calibri"/>
              </a:rPr>
              <a:t>방 내부사진만으로 정리대상을 탐지하고 목적지와 순서를 제안하는 개인화 맞춤 도구</a:t>
            </a:r>
            <a:endParaRPr lang="ko-KR" altLang="en-US" sz="1500" b="0" i="0">
              <a:solidFill>
                <a:srgbClr val="1f2d2a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75120" y="1828800"/>
            <a:ext cx="4846320" cy="3017520"/>
          </a:xfrm>
          <a:prstGeom prst="roundRect">
            <a:avLst>
              <a:gd name="adj" fmla="val 5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057400"/>
            <a:ext cx="4297680" cy="2952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600" b="1" i="0">
                <a:solidFill>
                  <a:srgbClr val="3d5a50"/>
                </a:solidFill>
                <a:latin typeface="Calibri"/>
              </a:rPr>
              <a:t>스코프</a:t>
            </a:r>
            <a:r>
              <a:rPr lang="ko-KR" altLang="en-US" sz="1600" b="1" i="0">
                <a:solidFill>
                  <a:srgbClr val="3d5a50"/>
                </a:solidFill>
                <a:latin typeface="Calibri"/>
              </a:rPr>
              <a:t> 설계</a:t>
            </a:r>
            <a:endParaRPr lang="ko-KR" altLang="en-US" sz="1600" b="1" i="0">
              <a:solidFill>
                <a:srgbClr val="3d5a5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2651760"/>
            <a:ext cx="4297680" cy="1186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40000"/>
              </a:lnSpc>
              <a:defRPr/>
            </a:pPr>
            <a:r>
              <a:rPr sz="1400" b="0" i="0">
                <a:solidFill>
                  <a:srgbClr val="55635f"/>
                </a:solidFill>
                <a:latin typeface="Calibri"/>
              </a:rPr>
              <a:t>모두에게 필수인 도구가 아니라,</a:t>
            </a:r>
            <a:endParaRPr sz="1400" b="0" i="0">
              <a:solidFill>
                <a:srgbClr val="55635f"/>
              </a:solidFill>
              <a:latin typeface="Calibri"/>
            </a:endParaRPr>
          </a:p>
          <a:p>
            <a:pPr lvl="0" algn="l">
              <a:lnSpc>
                <a:spcPct val="140000"/>
              </a:lnSpc>
              <a:defRPr/>
            </a:pPr>
            <a:endParaRPr sz="1400" b="0" i="0">
              <a:solidFill>
                <a:srgbClr val="55635f"/>
              </a:solidFill>
              <a:latin typeface="Calibri"/>
            </a:endParaRPr>
          </a:p>
          <a:p>
            <a:pPr lvl="0" algn="l">
              <a:lnSpc>
                <a:spcPct val="140000"/>
              </a:lnSpc>
              <a:defRPr/>
            </a:pPr>
            <a:r>
              <a:rPr sz="1400" b="0" i="0">
                <a:solidFill>
                  <a:srgbClr val="55635f"/>
                </a:solidFill>
                <a:latin typeface="Calibri"/>
              </a:rPr>
              <a:t>물건 수가 많거나 시작을 못 하는 상황에서</a:t>
            </a:r>
            <a:endParaRPr sz="1400" b="0" i="0">
              <a:solidFill>
                <a:srgbClr val="55635f"/>
              </a:solidFill>
              <a:latin typeface="Calibri"/>
            </a:endParaRPr>
          </a:p>
          <a:p>
            <a:pPr lvl="0" algn="l">
              <a:lnSpc>
                <a:spcPct val="140000"/>
              </a:lnSpc>
              <a:defRPr/>
            </a:pPr>
            <a:r>
              <a:rPr sz="1400" b="0" i="0">
                <a:solidFill>
                  <a:srgbClr val="55635f"/>
                </a:solidFill>
                <a:latin typeface="Calibri"/>
              </a:rPr>
              <a:t>실제로 유효한 도구로 스코프를 좁혀 설계</a:t>
            </a:r>
            <a:endParaRPr sz="1400" b="0" i="0">
              <a:solidFill>
                <a:srgbClr val="55635f"/>
              </a:solidFill>
              <a:latin typeface="Calibri"/>
            </a:endParaRPr>
          </a:p>
        </p:txBody>
      </p:sp>
      <p:pic>
        <p:nvPicPr>
          <p:cNvPr id="8" name="Picture 7" descr="shield_0.7_5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16636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5193792"/>
            <a:ext cx="9875520" cy="826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30000"/>
              </a:lnSpc>
              <a:defRPr/>
            </a:pPr>
            <a:r>
              <a:rPr sz="1400" b="0" i="0">
                <a:solidFill>
                  <a:srgbClr val="1f2d2a"/>
                </a:solidFill>
                <a:latin typeface="Calibri"/>
              </a:rPr>
              <a:t>방 내부 사진은 위치·소지품·생활패턴이 드러나는 민감</a:t>
            </a:r>
            <a:r>
              <a:rPr lang="ko-KR" altLang="en-US" sz="1400" b="0" i="0">
                <a:solidFill>
                  <a:srgbClr val="1f2d2a"/>
                </a:solidFill>
                <a:latin typeface="Calibri"/>
              </a:rPr>
              <a:t>한 데이터이므로 </a:t>
            </a:r>
            <a:endParaRPr lang="ko-KR" altLang="en-US" sz="1400" b="0" i="0">
              <a:solidFill>
                <a:srgbClr val="1f2d2a"/>
              </a:solidFill>
              <a:latin typeface="Calibri"/>
            </a:endParaRPr>
          </a:p>
          <a:p>
            <a:pPr lvl="0" algn="l">
              <a:lnSpc>
                <a:spcPct val="130000"/>
              </a:lnSpc>
              <a:defRPr/>
            </a:pPr>
            <a:r>
              <a:rPr sz="1400" b="0" i="0">
                <a:solidFill>
                  <a:srgbClr val="1f2d2a"/>
                </a:solidFill>
                <a:latin typeface="Calibri"/>
              </a:rPr>
              <a:t>→ 클라우드 대신 </a:t>
            </a:r>
            <a:r>
              <a:rPr lang="ko-KR" altLang="en-US" sz="1400" b="0" i="0">
                <a:solidFill>
                  <a:srgbClr val="1f2d2a"/>
                </a:solidFill>
                <a:latin typeface="Calibri"/>
              </a:rPr>
              <a:t>로컬</a:t>
            </a:r>
            <a:r>
              <a:rPr sz="1400" b="0" i="0">
                <a:solidFill>
                  <a:srgbClr val="1f2d2a"/>
                </a:solidFill>
                <a:latin typeface="Calibri"/>
              </a:rPr>
              <a:t> 처리를 기본 방향으로 설계</a:t>
            </a:r>
            <a:r>
              <a:rPr lang="ko-KR" altLang="en-US" sz="1400" b="0" i="0">
                <a:solidFill>
                  <a:srgbClr val="1f2d2a"/>
                </a:solidFill>
                <a:latin typeface="Calibri"/>
              </a:rPr>
              <a:t> </a:t>
            </a:r>
            <a:r>
              <a:rPr lang="en-US" altLang="ko-KR" sz="1400" b="0" i="0">
                <a:solidFill>
                  <a:srgbClr val="1f2d2a"/>
                </a:solidFill>
                <a:latin typeface="Calibri"/>
              </a:rPr>
              <a:t>(</a:t>
            </a:r>
            <a:r>
              <a:rPr lang="ko-KR" altLang="en-US" sz="1400" b="0" i="0">
                <a:solidFill>
                  <a:srgbClr val="1f2d2a"/>
                </a:solidFill>
                <a:latin typeface="Calibri"/>
              </a:rPr>
              <a:t> </a:t>
            </a:r>
            <a:r>
              <a:rPr lang="en-US" altLang="ko-KR" sz="1400" b="0" i="0">
                <a:solidFill>
                  <a:srgbClr val="1f2d2a"/>
                </a:solidFill>
                <a:latin typeface="Calibri"/>
              </a:rPr>
              <a:t>탐지 파이프라인 자체는 AI(딥러닝 모델)를 쓰지만, 유료 API가 아니라 로컬에서 도는 오픈소스 모델</a:t>
            </a:r>
            <a:r>
              <a:rPr lang="ko-KR" altLang="en-US" sz="1400" b="0" i="0">
                <a:solidFill>
                  <a:srgbClr val="1f2d2a"/>
                </a:solidFill>
                <a:latin typeface="Calibri"/>
              </a:rPr>
              <a:t> 사용</a:t>
            </a:r>
            <a:r>
              <a:rPr lang="en-US" altLang="ko-KR" sz="1400" b="0" i="0">
                <a:solidFill>
                  <a:srgbClr val="1f2d2a"/>
                </a:solidFill>
                <a:latin typeface="Calibri"/>
              </a:rPr>
              <a:t>)</a:t>
            </a:r>
            <a:endParaRPr lang="en-US" altLang="ko-KR" sz="1400" b="0" i="0">
              <a:solidFill>
                <a:srgbClr val="1f2d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D5A50"/>
                </a:solidFill>
                <a:latin typeface="Calibri"/>
              </a:rPr>
              <a:t>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F2D2A"/>
                </a:solidFill>
                <a:latin typeface="Cambria"/>
              </a:rPr>
              <a:t>제안 — 사진 한 번으로 정리 순서까지</a:t>
            </a:r>
          </a:p>
        </p:txBody>
      </p:sp>
      <p:pic>
        <p:nvPicPr>
          <p:cNvPr id="4" name="Picture 3" descr="camera_0.7_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187452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2D2A"/>
                </a:solidFill>
                <a:latin typeface="Calibri"/>
              </a:rPr>
              <a:t>① 촬영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1284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35F"/>
                </a:solidFill>
                <a:latin typeface="Calibri"/>
              </a:rPr>
              <a:t>눈높이에서 다각도로 3~5장 촬영 (오버헤드 불필요)</a:t>
            </a:r>
          </a:p>
        </p:txBody>
      </p:sp>
      <p:pic>
        <p:nvPicPr>
          <p:cNvPr id="7" name="Picture 6" descr="search_0.7_3.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1800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926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2D2A"/>
                </a:solidFill>
                <a:latin typeface="Calibri"/>
              </a:rPr>
              <a:t>② 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6440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35F"/>
                </a:solidFill>
                <a:latin typeface="Calibri"/>
              </a:rPr>
              <a:t>오픈보캐뷸러리 모델이 정리 대상 물건만 로컬에서 탐지</a:t>
            </a:r>
          </a:p>
        </p:txBody>
      </p:sp>
      <p:pic>
        <p:nvPicPr>
          <p:cNvPr id="10" name="Picture 9" descr="pin_0.7_4.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548640" cy="548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0" y="3977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2D2A"/>
                </a:solidFill>
                <a:latin typeface="Calibri"/>
              </a:rPr>
              <a:t>③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1596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35F"/>
                </a:solidFill>
                <a:latin typeface="Calibri"/>
              </a:rPr>
              <a:t>카테고리별 목적지를 색깔 오버레이 + 순서로 제시</a:t>
            </a:r>
          </a:p>
        </p:txBody>
      </p:sp>
      <p:pic>
        <p:nvPicPr>
          <p:cNvPr id="13" name="Picture 12" descr="cursor_0.7_5.550000000000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074920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50292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F2D2A"/>
                </a:solidFill>
                <a:latin typeface="Calibri"/>
              </a:rPr>
              <a:t>④ 학습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67528"/>
            <a:ext cx="4663440" cy="452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250" b="0" i="0">
                <a:solidFill>
                  <a:srgbClr val="55635f"/>
                </a:solidFill>
                <a:latin typeface="Calibri"/>
              </a:rPr>
              <a:t>클릭으로 고치면 내 방 전용 규칙으로 저장</a:t>
            </a:r>
            <a:endParaRPr sz="1250" b="0" i="0">
              <a:solidFill>
                <a:srgbClr val="55635f"/>
              </a:solidFill>
              <a:latin typeface="Calibri"/>
            </a:endParaRPr>
          </a:p>
          <a:p>
            <a:pPr lvl="0" algn="l">
              <a:lnSpc>
                <a:spcPct val="120000"/>
              </a:lnSpc>
              <a:defRPr/>
            </a:pPr>
            <a:r>
              <a:rPr lang="ko-KR" altLang="en-US" sz="1250" b="0" i="0">
                <a:solidFill>
                  <a:srgbClr val="55635f"/>
                </a:solidFill>
                <a:latin typeface="Calibri"/>
              </a:rPr>
              <a:t>특별한 물건 </a:t>
            </a:r>
            <a:r>
              <a:rPr lang="en-US" altLang="ko-KR" sz="1250" b="0" i="0">
                <a:solidFill>
                  <a:srgbClr val="55635f"/>
                </a:solidFill>
                <a:latin typeface="Calibri"/>
              </a:rPr>
              <a:t>-</a:t>
            </a:r>
            <a:r>
              <a:rPr lang="ko-KR" altLang="en-US" sz="1250" b="0" i="0">
                <a:solidFill>
                  <a:srgbClr val="55635f"/>
                </a:solidFill>
                <a:latin typeface="Calibri"/>
              </a:rPr>
              <a:t> 새로운 카테고리 </a:t>
            </a:r>
            <a:r>
              <a:rPr lang="en-US" altLang="ko-KR" sz="1250" b="0" i="0">
                <a:solidFill>
                  <a:srgbClr val="55635f"/>
                </a:solidFill>
                <a:latin typeface="Calibri"/>
              </a:rPr>
              <a:t>,</a:t>
            </a:r>
            <a:r>
              <a:rPr lang="ko-KR" altLang="en-US" sz="1250" b="0" i="0">
                <a:solidFill>
                  <a:srgbClr val="55635f"/>
                </a:solidFill>
                <a:latin typeface="Calibri"/>
              </a:rPr>
              <a:t> 기타로 사용자 설정</a:t>
            </a:r>
            <a:endParaRPr lang="ko-KR" altLang="en-US" sz="1250" b="0" i="0">
              <a:solidFill>
                <a:srgbClr val="55635f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2286000" cy="3657600"/>
          </a:xfrm>
          <a:prstGeom prst="roundRect">
            <a:avLst>
              <a:gd name="adj" fmla="val 5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_7.55_2.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10312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60920" y="21214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3D5A50"/>
                </a:solidFill>
                <a:latin typeface="Calibri"/>
              </a:rPr>
              <a:t>만드는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06040"/>
            <a:ext cx="187451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>• 카테고리 탐지 · 목적지 제안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>• 개인화 학습 (클릭 예외)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>• 정리 순서 제안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F2D2A"/>
                </a:solidFill>
                <a:latin typeface="Calibri"/>
              </a:rPr>
              <a:t>• 유저 정의 카테고리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920240"/>
            <a:ext cx="2286000" cy="3657600"/>
          </a:xfrm>
          <a:prstGeom prst="roundRect">
            <a:avLst>
              <a:gd name="adj" fmla="val 5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x_10.25_2.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2103120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829800" y="21214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55635F"/>
                </a:solidFill>
                <a:latin typeface="Calibri"/>
              </a:rPr>
              <a:t>하지 않는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06040"/>
            <a:ext cx="187451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35F"/>
                </a:solidFill>
                <a:latin typeface="Calibri"/>
              </a:rPr>
              <a:t>• 동일 물건 재식별(인스턴스)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35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35F"/>
                </a:solidFill>
                <a:latin typeface="Calibri"/>
              </a:rPr>
              <a:t>• 물리적 적재 순서(3D) 추론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35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5635F"/>
                </a:solidFill>
                <a:latin typeface="Calibri"/>
              </a:rPr>
              <a:t>• 완전자동 세탁여부 판단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D5A50"/>
                </a:solidFill>
                <a:latin typeface="Calibri"/>
              </a:rPr>
              <a:t>DESIGN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F2D2A"/>
                </a:solidFill>
                <a:latin typeface="Cambria"/>
              </a:rPr>
              <a:t>AI와 함께 탐색한 설계 대안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2324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300" b="0" i="1">
                <a:solidFill>
                  <a:srgbClr val="55635f"/>
                </a:solidFill>
                <a:latin typeface="Calibri"/>
              </a:rPr>
              <a:t>생성형 AI를 설계 파트너로 활용해 대안을 비교하고, 트레이드오프를 근거로 판단</a:t>
            </a:r>
            <a:r>
              <a:rPr lang="en-US" altLang="ko-KR" sz="1300" b="0" i="1">
                <a:solidFill>
                  <a:srgbClr val="55635f"/>
                </a:solidFill>
                <a:latin typeface="Calibri"/>
              </a:rPr>
              <a:t> , </a:t>
            </a:r>
            <a:r>
              <a:rPr lang="ko-KR" altLang="en-US" sz="1300" b="0" i="1">
                <a:solidFill>
                  <a:srgbClr val="55635f"/>
                </a:solidFill>
                <a:latin typeface="Calibri"/>
              </a:rPr>
              <a:t>최대한 사용자 맞춤으로 간단한 방식 채택</a:t>
            </a:r>
            <a:r>
              <a:rPr sz="1300" b="0" i="1">
                <a:solidFill>
                  <a:srgbClr val="55635f"/>
                </a:solidFill>
                <a:latin typeface="Calibri"/>
              </a:rPr>
              <a:t>.</a:t>
            </a:r>
            <a:endParaRPr sz="1300" b="0" i="1">
              <a:solidFill>
                <a:srgbClr val="55635f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97680"/>
                <a:gridCol w="3931920"/>
              </a:tblGrid>
              <a:tr h="54864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설계 지점</a:t>
                      </a:r>
                      <a:endParaRPr sz="14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3d5a50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검토한 대안</a:t>
                      </a:r>
                      <a:endParaRPr sz="14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3d5a50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최종 선택과 이유</a:t>
                      </a:r>
                      <a:endParaRPr sz="1400" b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3d5a50"/>
                    </a:solidFill>
                  </a:tcPr>
                </a:tc>
              </a:tr>
              <a:tr h="73152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1">
                          <a:solidFill>
                            <a:srgbClr val="1f2d2a"/>
                          </a:solidFill>
                          <a:latin typeface="Calibri"/>
                        </a:rPr>
                        <a:t>어질러짐 판단</a:t>
                      </a:r>
                      <a:endParaRPr sz="1250" b="1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변화탐지(baseline) vs 카테고리 규칙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카테고리 규칙 — cold-start 문제 없음</a:t>
                      </a:r>
                      <a:r>
                        <a:rPr lang="en-US" altLang="ko-KR" sz="1250" b="0">
                          <a:solidFill>
                            <a:srgbClr val="1f2d2a"/>
                          </a:solidFill>
                          <a:latin typeface="Calibri"/>
                        </a:rPr>
                        <a:t>,</a:t>
                      </a:r>
                      <a:r>
                        <a:rPr lang="ko-KR" altLang="en-US" sz="1250" b="0">
                          <a:solidFill>
                            <a:srgbClr val="1f2d2a"/>
                          </a:solidFill>
                          <a:latin typeface="Calibri"/>
                        </a:rPr>
                        <a:t>번거로움</a:t>
                      </a:r>
                      <a:r>
                        <a:rPr lang="en-US" altLang="ko-KR" sz="1250" b="0">
                          <a:solidFill>
                            <a:srgbClr val="1f2d2a"/>
                          </a:solidFill>
                          <a:latin typeface="Calibri"/>
                        </a:rPr>
                        <a:t> X</a:t>
                      </a:r>
                      <a:endParaRPr lang="en-US" altLang="ko-KR"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1">
                          <a:solidFill>
                            <a:srgbClr val="1f2d2a"/>
                          </a:solidFill>
                          <a:latin typeface="Calibri"/>
                        </a:rPr>
                        <a:t>처리 위치</a:t>
                      </a:r>
                      <a:endParaRPr sz="1250" b="1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클라우드 API vs 로컬 모델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로컬 오픈소스 — 프라이버시·비용 확보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</a:tr>
              <a:tr h="73152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1">
                          <a:solidFill>
                            <a:srgbClr val="1f2d2a"/>
                          </a:solidFill>
                          <a:latin typeface="Calibri"/>
                        </a:rPr>
                        <a:t>카테고리 확보</a:t>
                      </a:r>
                      <a:endParaRPr sz="1250" b="1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커스텀 파인튜닝 vs 오픈보캐뷸러리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오픈보캐뷸러리 — 학습 데이터 불필요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1">
                          <a:solidFill>
                            <a:srgbClr val="1f2d2a"/>
                          </a:solidFill>
                          <a:latin typeface="Calibri"/>
                        </a:rPr>
                        <a:t>과거 위치 기억</a:t>
                      </a:r>
                      <a:endParaRPr sz="1250" b="1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인스턴스 재식별 vs 카테고리 개인화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카테고리 개인화 — 동일 외형 구분 한계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edf3f1"/>
                    </a:solidFill>
                  </a:tcPr>
                </a:tc>
              </a:tr>
              <a:tr h="731520"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1">
                          <a:solidFill>
                            <a:srgbClr val="1f2d2a"/>
                          </a:solidFill>
                          <a:latin typeface="Calibri"/>
                        </a:rPr>
                        <a:t>정리 순서 제시</a:t>
                      </a:r>
                      <a:endParaRPr sz="1250" b="1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3D 적재 순서 추론 vs 휴리스틱 정렬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vert="horz" wrap="square" lIns="109728" tIns="54864" rIns="109728" bIns="54864" anchor="ctr" anchorCtr="0"/>
                    <a:lstStyle/>
                    <a:p>
                      <a:pPr lvl="0">
                        <a:defRPr/>
                      </a:pPr>
                      <a:r>
                        <a:rPr sz="1250" b="0">
                          <a:solidFill>
                            <a:srgbClr val="1f2d2a"/>
                          </a:solidFill>
                          <a:latin typeface="Calibri"/>
                        </a:rPr>
                        <a:t>휴리스틱 정렬 — 단일 사진 리스크 회피</a:t>
                      </a:r>
                      <a:endParaRPr sz="1250" b="0">
                        <a:solidFill>
                          <a:srgbClr val="1f2d2a"/>
                        </a:solidFill>
                        <a:latin typeface="Calibri"/>
                      </a:endParaRP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D5A50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F2D2A"/>
                </a:solidFill>
                <a:latin typeface="Cambria"/>
              </a:rPr>
              <a:t>시스템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1640" y="21031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56232" y="226771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사진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724912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3~5장, 다각도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1031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2" y="226771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오픈보캐뷸러리 탐지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2724912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로컬 모델, 카테고리 매칭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103120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2267712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합집합 통합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2724912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IoU 기반 중복 병합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977639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2" y="4142231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목적지 규칙 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4599431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기본 규칙 + 유저 예외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977639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2" y="4142231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오버레이 · 순서 출력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4599431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색깔 오버레이 + 체크리스트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3977639"/>
            <a:ext cx="2743200" cy="1188720"/>
          </a:xfrm>
          <a:prstGeom prst="roundRect">
            <a:avLst>
              <a:gd name="adj" fmla="val 8000"/>
            </a:avLst>
          </a:prstGeom>
          <a:solidFill>
            <a:srgbClr val="ED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4142231"/>
            <a:ext cx="24140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50" b="1" i="0">
                <a:solidFill>
                  <a:srgbClr val="1F2D2A"/>
                </a:solidFill>
                <a:latin typeface="Calibri"/>
              </a:rPr>
              <a:t>클릭 수정(개인화)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4599431"/>
            <a:ext cx="24140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5635F"/>
                </a:solidFill>
                <a:latin typeface="Calibri"/>
              </a:rPr>
              <a:t>이번만 / 항상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475988" y="2578608"/>
            <a:ext cx="192024" cy="237744"/>
          </a:xfrm>
          <a:prstGeom prst="rightArrow">
            <a:avLst/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475988" y="4453128"/>
            <a:ext cx="192024" cy="237744"/>
          </a:xfrm>
          <a:prstGeom prst="rightArrow">
            <a:avLst/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493508" y="2578608"/>
            <a:ext cx="192024" cy="237744"/>
          </a:xfrm>
          <a:prstGeom prst="rightArrow">
            <a:avLst/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493508" y="4453128"/>
            <a:ext cx="192024" cy="237744"/>
          </a:xfrm>
          <a:prstGeom prst="rightArrow">
            <a:avLst/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979407" y="3364991"/>
            <a:ext cx="237744" cy="539496"/>
          </a:xfrm>
          <a:prstGeom prst="downArrow">
            <a:avLst/>
          </a:prstGeom>
          <a:solidFill>
            <a:srgbClr val="5E8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77840"/>
            <a:ext cx="11181024" cy="270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sz="1500" b="1">
                <a:solidFill>
                  <a:srgbClr val="55635f"/>
                </a:solidFill>
                <a:latin typeface="바탕"/>
                <a:ea typeface="바탕"/>
              </a:rPr>
              <a:t>새로 드러난 물건은 다음 라운드에서 동일한 파이프라인으로 재탐지— 처리된 물건은 이미 사라져 있어 별도 매칭 로직이 필요 없</a:t>
            </a:r>
            <a:r>
              <a:rPr lang="ko-KR" altLang="en-US" sz="1500" b="1">
                <a:solidFill>
                  <a:srgbClr val="55635f"/>
                </a:solidFill>
                <a:latin typeface="바탕"/>
                <a:ea typeface="바탕"/>
              </a:rPr>
              <a:t>음</a:t>
            </a:r>
            <a:endParaRPr lang="ko-KR" altLang="en-US" sz="1500" b="1">
              <a:solidFill>
                <a:srgbClr val="55635f"/>
              </a:solidFill>
              <a:latin typeface="바탕"/>
              <a:ea typeface="바탕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3D5A50"/>
                </a:solidFill>
                <a:latin typeface="Calibr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F2D2A"/>
                </a:solidFill>
                <a:latin typeface="Cambria"/>
              </a:rPr>
              <a:t>이번 학기 추진 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32688" y="2011679"/>
            <a:ext cx="0" cy="3803905"/>
          </a:xfrm>
          <a:prstGeom prst="line">
            <a:avLst/>
          </a:prstGeom>
          <a:ln w="25400">
            <a:solidFill>
              <a:srgbClr val="5E8B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95528" y="1874519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7451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19655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D5A50"/>
                </a:solidFill>
                <a:latin typeface="Calibri"/>
              </a:rPr>
              <a:t>4주차 (9/24)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탐지모델 환경 구축, 카테고리 목록 확정</a:t>
            </a:r>
          </a:p>
        </p:txBody>
      </p:sp>
      <p:sp>
        <p:nvSpPr>
          <p:cNvPr id="8" name="Oval 7"/>
          <p:cNvSpPr/>
          <p:nvPr/>
        </p:nvSpPr>
        <p:spPr>
          <a:xfrm>
            <a:off x="795528" y="2350008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43150"/>
            <a:ext cx="9966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350" b="1" i="0">
                <a:solidFill>
                  <a:srgbClr val="3d5a50"/>
                </a:solidFill>
                <a:latin typeface="Calibri"/>
              </a:rPr>
              <a:t>5주차 (10/1)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</a:t>
            </a:r>
            <a:r>
              <a:rPr sz="1300" b="1" i="0">
                <a:solidFill>
                  <a:srgbClr val="1f2d2a"/>
                </a:solidFill>
                <a:latin typeface="Calibri"/>
              </a:rPr>
              <a:t>탐지 파이프라인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테스트, 프롬프트 튜닝</a:t>
            </a:r>
            <a:endParaRPr sz="1300" b="0" i="0">
              <a:solidFill>
                <a:srgbClr val="1f2d2a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95528" y="2825496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8254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7063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D5A50"/>
                </a:solidFill>
                <a:latin typeface="Calibri"/>
              </a:rPr>
              <a:t>6주차 (10/8)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목적지 규칙 테이블 설계, 다각도 합집합 구현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300984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3009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95650"/>
            <a:ext cx="9966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350" b="1" i="0">
                <a:solidFill>
                  <a:srgbClr val="3d5a50"/>
                </a:solidFill>
                <a:latin typeface="Calibri"/>
              </a:rPr>
              <a:t>8주차 (10/22)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</a:t>
            </a:r>
            <a:r>
              <a:rPr sz="1300" b="1" i="0">
                <a:solidFill>
                  <a:srgbClr val="1f2d2a"/>
                </a:solidFill>
                <a:latin typeface="Calibri"/>
              </a:rPr>
              <a:t> UI 개발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(모드선택 · 오버레이 · 체크리스트)</a:t>
            </a:r>
            <a:endParaRPr sz="1300" b="0" i="0">
              <a:solidFill>
                <a:srgbClr val="1f2d2a"/>
              </a:solidFill>
              <a:latin typeface="Calibri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95528" y="3776472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377647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72160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D5A50"/>
                </a:solidFill>
                <a:latin typeface="Calibri"/>
              </a:rPr>
              <a:t>9주차 (10/29)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클릭 수정 · 유저 예외 DB · 카테고리 관리 UI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" y="4251960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4251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9709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D5A50"/>
                </a:solidFill>
                <a:latin typeface="Calibri"/>
              </a:rPr>
              <a:t>10주차 (11/5)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휴리스틱 정렬 · 라운드제 재촬영 플로우</a:t>
            </a:r>
          </a:p>
        </p:txBody>
      </p:sp>
      <p:sp>
        <p:nvSpPr>
          <p:cNvPr id="23" name="Oval 22"/>
          <p:cNvSpPr/>
          <p:nvPr/>
        </p:nvSpPr>
        <p:spPr>
          <a:xfrm>
            <a:off x="795528" y="4727448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472744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24400"/>
            <a:ext cx="9966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350" b="1" i="0">
                <a:solidFill>
                  <a:srgbClr val="3d5a50"/>
                </a:solidFill>
                <a:latin typeface="Calibri"/>
              </a:rPr>
              <a:t>11주차 (11/12)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</a:t>
            </a:r>
            <a:r>
              <a:rPr sz="1300" b="1" i="0">
                <a:solidFill>
                  <a:srgbClr val="1f2d2a"/>
                </a:solidFill>
                <a:latin typeface="Calibri"/>
              </a:rPr>
              <a:t>통합 테스트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· 전체 시나리오 리허설</a:t>
            </a:r>
            <a:endParaRPr sz="1300" b="0" i="0">
              <a:solidFill>
                <a:srgbClr val="1f2d2a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95528" y="5202936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2029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91505"/>
            <a:ext cx="996696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lnSpc>
                <a:spcPct val="120000"/>
              </a:lnSpc>
              <a:defRPr/>
            </a:pPr>
            <a:r>
              <a:rPr sz="1350" b="1" i="0">
                <a:solidFill>
                  <a:srgbClr val="3d5a50"/>
                </a:solidFill>
                <a:latin typeface="Calibri"/>
              </a:rPr>
              <a:t>12주차 (11/19)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(</a:t>
            </a:r>
            <a:r>
              <a:rPr lang="en-US" altLang="ko-KR" sz="1300" b="0" i="0">
                <a:solidFill>
                  <a:srgbClr val="1f2d2a"/>
                </a:solidFill>
                <a:latin typeface="Calibri"/>
              </a:rPr>
              <a:t>+a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) 온디바이스 최적화 시도</a:t>
            </a:r>
            <a:r>
              <a:rPr lang="en-US" altLang="ko-KR" sz="1300" b="0" i="0">
                <a:solidFill>
                  <a:srgbClr val="1f2d2a"/>
                </a:solidFill>
                <a:latin typeface="Calibri"/>
              </a:rPr>
              <a:t> (</a:t>
            </a:r>
            <a:r>
              <a:rPr lang="ko-KR" altLang="en-US" sz="1300" b="0" i="0">
                <a:solidFill>
                  <a:srgbClr val="1f2d2a"/>
                </a:solidFill>
                <a:latin typeface="Calibri"/>
              </a:rPr>
              <a:t>양자화</a:t>
            </a:r>
            <a:r>
              <a:rPr lang="en-US" altLang="ko-KR" sz="1300" b="0" i="0">
                <a:solidFill>
                  <a:srgbClr val="1f2d2a"/>
                </a:solidFill>
                <a:latin typeface="Calibri"/>
              </a:rPr>
              <a:t>)</a:t>
            </a:r>
            <a:r>
              <a:rPr lang="ko-KR" altLang="en-US" sz="1300" b="0" i="0">
                <a:solidFill>
                  <a:srgbClr val="1f2d2a"/>
                </a:solidFill>
                <a:latin typeface="Calibri"/>
              </a:rPr>
              <a:t>  </a:t>
            </a:r>
            <a:endParaRPr lang="ko-KR" altLang="en-US" sz="1300" b="0" i="0">
              <a:solidFill>
                <a:srgbClr val="1f2d2a"/>
              </a:solidFill>
              <a:latin typeface="Calibri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95528" y="5678424"/>
            <a:ext cx="274320" cy="274320"/>
          </a:xfrm>
          <a:prstGeom prst="ellipse">
            <a:avLst/>
          </a:prstGeom>
          <a:solidFill>
            <a:srgbClr val="3D5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56784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62356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3D5A50"/>
                </a:solidFill>
                <a:latin typeface="Calibri"/>
              </a:rPr>
              <a:t>13주차 (11/26)</a:t>
            </a:r>
            <a:r>
              <a:rPr sz="1300" b="0" i="0">
                <a:solidFill>
                  <a:srgbClr val="1F2D2A"/>
                </a:solidFill>
                <a:latin typeface="Calibri"/>
              </a:rPr>
              <a:t>  —  시연 시나리오 확정 · 정량 지표 측정</a:t>
            </a:r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f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기대 효과</a:t>
            </a:r>
          </a:p>
        </p:txBody>
      </p:sp>
      <p:pic>
        <p:nvPicPr>
          <p:cNvPr id="3" name="Picture 2" descr="target_1.7749999999999997_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59" y="210312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099" y="3108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결정 피로 감소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99" y="361187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반복되는 배치 판단을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시스템이 대신 제안</a:t>
            </a:r>
          </a:p>
        </p:txBody>
      </p:sp>
      <p:pic>
        <p:nvPicPr>
          <p:cNvPr id="6" name="Picture 5" descr="flow_4.7250000000000005_2.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1031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97580" y="3108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실행 전략 제공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7580" y="361187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정리 순서까지 제시해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실용성을 확보</a:t>
            </a:r>
          </a:p>
        </p:txBody>
      </p:sp>
      <p:pic>
        <p:nvPicPr>
          <p:cNvPr id="9" name="Picture 8" descr="pin_7.675_2.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95060" y="310896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내 방 전용 개인화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5060" y="3611879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유저 정의 카테고리 +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DCEEE8"/>
                </a:solidFill>
                <a:latin typeface="Calibri"/>
              </a:rPr>
              <a:t>클릭 기반 학습</a:t>
            </a:r>
          </a:p>
        </p:txBody>
      </p:sp>
      <p:pic>
        <p:nvPicPr>
          <p:cNvPr id="12" name="Picture 11" descr="shield_10.625000000000002_2.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2103120"/>
            <a:ext cx="822960" cy="822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92540" y="3108960"/>
            <a:ext cx="2468880" cy="27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sz="1500" b="1" i="0">
                <a:solidFill>
                  <a:srgbClr val="ffffff"/>
                </a:solidFill>
                <a:latin typeface="Calibri"/>
              </a:rPr>
              <a:t>프라이버시 우선</a:t>
            </a:r>
            <a:endParaRPr sz="1500" b="1" i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92540" y="3611879"/>
            <a:ext cx="2468880" cy="45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5000"/>
              </a:lnSpc>
              <a:defRPr/>
            </a:pPr>
            <a:r>
              <a:rPr lang="ko-KR" altLang="en-US" sz="1200" b="0" i="0">
                <a:solidFill>
                  <a:srgbClr val="dceee8"/>
                </a:solidFill>
                <a:latin typeface="Calibri"/>
              </a:rPr>
              <a:t>내부 모델</a:t>
            </a:r>
            <a:r>
              <a:rPr sz="1200" b="0" i="0">
                <a:solidFill>
                  <a:srgbClr val="dceee8"/>
                </a:solidFill>
                <a:latin typeface="Calibri"/>
              </a:rPr>
              <a:t> 처리를</a:t>
            </a:r>
            <a:endParaRPr sz="1200" b="0" i="0">
              <a:solidFill>
                <a:srgbClr val="dceee8"/>
              </a:solidFill>
              <a:latin typeface="Calibri"/>
            </a:endParaRPr>
          </a:p>
          <a:p>
            <a:pPr lvl="0" algn="ctr">
              <a:lnSpc>
                <a:spcPct val="125000"/>
              </a:lnSpc>
              <a:defRPr/>
            </a:pPr>
            <a:r>
              <a:rPr sz="1200" b="0" i="0">
                <a:solidFill>
                  <a:srgbClr val="dceee8"/>
                </a:solidFill>
                <a:latin typeface="Calibri"/>
              </a:rPr>
              <a:t>기본 방향으로 설계</a:t>
            </a:r>
            <a:endParaRPr sz="1200" b="0" i="0">
              <a:solidFill>
                <a:srgbClr val="dcee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2f4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55166" y="2791777"/>
            <a:ext cx="10881361" cy="12753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>
              <a:lnSpc>
                <a:spcPct val="120000"/>
              </a:lnSpc>
              <a:defRPr/>
            </a:pPr>
            <a:r>
              <a:rPr lang="ko-KR" altLang="en-US" sz="7000" b="1" i="0">
                <a:solidFill>
                  <a:srgbClr val="ffffff"/>
                </a:solidFill>
                <a:latin typeface="Calibri"/>
              </a:rPr>
              <a:t>감사합니다</a:t>
            </a:r>
            <a:endParaRPr lang="ko-KR" altLang="en-US" sz="7000" b="1" i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404297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413</ep:Words>
  <ep:PresentationFormat>On-screen Show (4:3)</ep:PresentationFormat>
  <ep:Paragraphs>123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gyuyoung</cp:lastModifiedBy>
  <dcterms:modified xsi:type="dcterms:W3CDTF">2026-09-18T05:00:32.620</dcterms:modified>
  <cp:revision>16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